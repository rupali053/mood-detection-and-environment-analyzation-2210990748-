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9"/>
  </p:notesMasterIdLst>
  <p:handoutMasterIdLst>
    <p:handoutMasterId r:id="rId20"/>
  </p:handoutMasterIdLst>
  <p:sldIdLst>
    <p:sldId id="256" r:id="rId5"/>
    <p:sldId id="257" r:id="rId6"/>
    <p:sldId id="269" r:id="rId7"/>
    <p:sldId id="270" r:id="rId8"/>
    <p:sldId id="276" r:id="rId9"/>
    <p:sldId id="271" r:id="rId10"/>
    <p:sldId id="272" r:id="rId11"/>
    <p:sldId id="279" r:id="rId12"/>
    <p:sldId id="273" r:id="rId13"/>
    <p:sldId id="274" r:id="rId14"/>
    <p:sldId id="275" r:id="rId15"/>
    <p:sldId id="277" r:id="rId16"/>
    <p:sldId id="278" r:id="rId17"/>
    <p:sldId id="268" r:id="rId18"/>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1594" y="1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5/17/2026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5/17/2026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IN" sz="2800" b="1" dirty="0"/>
              <a:t>Mood Detection and Environment Analyzation </a:t>
            </a: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Rupali Wadhwa</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2210990748</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IN" dirty="0"/>
              <a:t>Dr. Gurpreet Singh</a:t>
            </a:r>
          </a:p>
          <a:p>
            <a:pPr algn="ctr">
              <a:lnSpc>
                <a:spcPct val="100000"/>
              </a:lnSpc>
              <a:spcBef>
                <a:spcPts val="400"/>
              </a:spcBef>
            </a:pPr>
            <a:r>
              <a:rPr lang="en-IN" dirty="0"/>
              <a:t>Associate Professor</a:t>
            </a: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b="1" dirty="0">
                <a:latin typeface="Times New Roman" panose="02020603050405020304" pitchFamily="18" charset="0"/>
                <a:cs typeface="Times New Roman" panose="02020603050405020304" pitchFamily="18" charset="0"/>
              </a:rPr>
              <a:t>Introduction</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Human–computer interaction is evolving with intelligent systems that can understand human behavior.</a:t>
            </a: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AI-based mood detection helps in analyzing emotions and improving system responses.</a:t>
            </a: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It has applications in mental health, education, marketing, security, and personalized systems.</a:t>
            </a: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Traditional systems only respond to commands, but modern systems can understand non-verbal cues.</a:t>
            </a: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Deep learning enables detection of emotions, behavior patterns, and surroundings.</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pic>
        <p:nvPicPr>
          <p:cNvPr id="2" name="Picture 1">
            <a:extLst>
              <a:ext uri="{FF2B5EF4-FFF2-40B4-BE49-F238E27FC236}">
                <a16:creationId xmlns:a16="http://schemas.microsoft.com/office/drawing/2014/main" id="{FB5AC27C-BA73-A0B7-05B2-A7CEF8559D1F}"/>
              </a:ext>
            </a:extLst>
          </p:cNvPr>
          <p:cNvPicPr>
            <a:picLocks noChangeAspect="1"/>
          </p:cNvPicPr>
          <p:nvPr/>
        </p:nvPicPr>
        <p:blipFill>
          <a:blip r:embed="rId2"/>
          <a:stretch>
            <a:fillRect/>
          </a:stretch>
        </p:blipFill>
        <p:spPr>
          <a:xfrm>
            <a:off x="5958600" y="4372147"/>
            <a:ext cx="2481476" cy="198437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61485-E051-1F2C-B524-D594BAFC0C53}"/>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A1E716A3-E5F9-D6DC-8D28-9981835623FD}"/>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t>Problem Statement</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B9D0D531-337E-3FD6-51E7-AE51EC4BF3CE}"/>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3</a:t>
            </a:fld>
            <a:endParaRPr lang="en-GB" sz="1200" b="0" strike="noStrike" spc="-1">
              <a:latin typeface="Times New Roman"/>
            </a:endParaRPr>
          </a:p>
        </p:txBody>
      </p:sp>
      <p:sp>
        <p:nvSpPr>
          <p:cNvPr id="5" name="TextShape 2">
            <a:extLst>
              <a:ext uri="{FF2B5EF4-FFF2-40B4-BE49-F238E27FC236}">
                <a16:creationId xmlns:a16="http://schemas.microsoft.com/office/drawing/2014/main" id="{54ACEF73-3732-FFBD-B092-3C28A65432D4}"/>
              </a:ext>
            </a:extLst>
          </p:cNvPr>
          <p:cNvSpPr txBox="1"/>
          <p:nvPr/>
        </p:nvSpPr>
        <p:spPr>
          <a:xfrm>
            <a:off x="164008" y="1109742"/>
            <a:ext cx="8838720" cy="4838571"/>
          </a:xfrm>
          <a:prstGeom prst="rect">
            <a:avLst/>
          </a:prstGeom>
          <a:noFill/>
          <a:ln w="9360">
            <a:noFill/>
          </a:ln>
        </p:spPr>
        <p:txBody>
          <a:bodyPr>
            <a:noAutofit/>
          </a:bodyPr>
          <a:lstStyle/>
          <a:p>
            <a:pPr marL="139700" lvl="0" algn="just">
              <a:lnSpc>
                <a:spcPct val="150000"/>
              </a:lnSpc>
              <a:buClr>
                <a:srgbClr val="000000"/>
              </a:buClr>
              <a:buSzPts val="1400"/>
            </a:pPr>
            <a:r>
              <a:rPr lang="en-US" dirty="0">
                <a:latin typeface="Times New Roman" panose="02020603050405020304" pitchFamily="18" charset="0"/>
                <a:cs typeface="Times New Roman" panose="02020603050405020304" pitchFamily="18" charset="0"/>
              </a:rPr>
              <a:t>Many existing emotion detection systems are limited because they focus only on identifying facial expressions without considering the surrounding environment. This lack of context makes it difficult to understand why a person is showing a particular emotion or how external factors influence it. As a result, these systems often struggle with real-time performance, handling multiple individuals, and tracking emotional patterns over time. Research also shows that factors like lighting, background, noise, and location can significantly affect accuracy when ignored. Therefore, there is a need for a more advanced system that combines emotion detection with environmental analysis to provide a deeper and more meaningful understanding of human behavior.</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pic>
        <p:nvPicPr>
          <p:cNvPr id="2" name="Picture 1">
            <a:extLst>
              <a:ext uri="{FF2B5EF4-FFF2-40B4-BE49-F238E27FC236}">
                <a16:creationId xmlns:a16="http://schemas.microsoft.com/office/drawing/2014/main" id="{8D190A13-4F3D-E241-4B4F-F587A49B7ABB}"/>
              </a:ext>
            </a:extLst>
          </p:cNvPr>
          <p:cNvPicPr>
            <a:picLocks noChangeAspect="1"/>
          </p:cNvPicPr>
          <p:nvPr/>
        </p:nvPicPr>
        <p:blipFill>
          <a:blip r:embed="rId2"/>
          <a:stretch>
            <a:fillRect/>
          </a:stretch>
        </p:blipFill>
        <p:spPr>
          <a:xfrm>
            <a:off x="5735080" y="4800935"/>
            <a:ext cx="2425511" cy="1894645"/>
          </a:xfrm>
          <a:prstGeom prst="rect">
            <a:avLst/>
          </a:prstGeom>
        </p:spPr>
      </p:pic>
    </p:spTree>
    <p:extLst>
      <p:ext uri="{BB962C8B-B14F-4D97-AF65-F5344CB8AC3E}">
        <p14:creationId xmlns:p14="http://schemas.microsoft.com/office/powerpoint/2010/main" val="3958492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4F979-267F-D815-EBFC-A0CE00C3514B}"/>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41EEEA1B-2771-1596-5239-083BB3D65D75}"/>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t>Objectives</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207DA3E6-CD68-8FA1-F9BF-D8A4BA66E89F}"/>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4</a:t>
            </a:fld>
            <a:endParaRPr lang="en-GB" sz="1200" b="0" strike="noStrike" spc="-1">
              <a:latin typeface="Times New Roman"/>
            </a:endParaRPr>
          </a:p>
        </p:txBody>
      </p:sp>
      <p:sp>
        <p:nvSpPr>
          <p:cNvPr id="5" name="TextShape 2">
            <a:extLst>
              <a:ext uri="{FF2B5EF4-FFF2-40B4-BE49-F238E27FC236}">
                <a16:creationId xmlns:a16="http://schemas.microsoft.com/office/drawing/2014/main" id="{122756B5-1CD1-86F5-0458-48832A591C08}"/>
              </a:ext>
            </a:extLst>
          </p:cNvPr>
          <p:cNvSpPr txBox="1"/>
          <p:nvPr/>
        </p:nvSpPr>
        <p:spPr>
          <a:xfrm>
            <a:off x="152640" y="1122268"/>
            <a:ext cx="8838720" cy="4838571"/>
          </a:xfrm>
          <a:prstGeom prst="rect">
            <a:avLst/>
          </a:prstGeom>
          <a:noFill/>
          <a:ln w="9360">
            <a:noFill/>
          </a:ln>
        </p:spPr>
        <p:txBody>
          <a:bodyPr>
            <a:noAutofit/>
          </a:bodyPr>
          <a:lstStyle/>
          <a:p>
            <a:pPr marL="457200" lvl="0" indent="-317500" algn="just">
              <a:lnSpc>
                <a:spcPct val="150000"/>
              </a:lnSpc>
              <a:buClr>
                <a:srgbClr val="000000"/>
              </a:buClr>
              <a:buSzPts val="1400"/>
              <a:buChar char="●"/>
            </a:pPr>
            <a:r>
              <a:rPr lang="en-US" sz="2000" dirty="0">
                <a:latin typeface="Times New Roman" panose="02020603050405020304" pitchFamily="18" charset="0"/>
                <a:cs typeface="Times New Roman" panose="02020603050405020304" pitchFamily="18" charset="0"/>
              </a:rPr>
              <a:t>Detects and classifies emotional states from live video streams using deep learning.</a:t>
            </a:r>
          </a:p>
          <a:p>
            <a:pPr marL="457200" lvl="0" indent="-317500" algn="just">
              <a:lnSpc>
                <a:spcPct val="150000"/>
              </a:lnSpc>
              <a:buClr>
                <a:srgbClr val="000000"/>
              </a:buClr>
              <a:buSzPts val="1400"/>
              <a:buChar char="●"/>
            </a:pPr>
            <a:r>
              <a:rPr lang="en-US" sz="2000" dirty="0">
                <a:latin typeface="Times New Roman" panose="02020603050405020304" pitchFamily="18" charset="0"/>
                <a:cs typeface="Times New Roman" panose="02020603050405020304" pitchFamily="18" charset="0"/>
              </a:rPr>
              <a:t>Identifies and analyzes the surroundings to provide environmental context.</a:t>
            </a:r>
          </a:p>
          <a:p>
            <a:pPr marL="457200" lvl="0" indent="-317500" algn="just">
              <a:lnSpc>
                <a:spcPct val="150000"/>
              </a:lnSpc>
              <a:buClr>
                <a:srgbClr val="000000"/>
              </a:buClr>
              <a:buSzPts val="1400"/>
              <a:buChar char="●"/>
            </a:pPr>
            <a:r>
              <a:rPr lang="en-US" sz="2000" dirty="0">
                <a:latin typeface="Times New Roman" panose="02020603050405020304" pitchFamily="18" charset="0"/>
                <a:cs typeface="Times New Roman" panose="02020603050405020304" pitchFamily="18" charset="0"/>
              </a:rPr>
              <a:t>Supports multi-person emotional recognition and visualization simultaneously.</a:t>
            </a:r>
          </a:p>
          <a:p>
            <a:pPr marL="457200" lvl="0" indent="-317500" algn="just">
              <a:lnSpc>
                <a:spcPct val="150000"/>
              </a:lnSpc>
              <a:buClr>
                <a:srgbClr val="000000"/>
              </a:buClr>
              <a:buSzPts val="1400"/>
              <a:buChar char="●"/>
            </a:pPr>
            <a:r>
              <a:rPr lang="en-US" sz="2000" dirty="0">
                <a:latin typeface="Times New Roman" panose="02020603050405020304" pitchFamily="18" charset="0"/>
                <a:cs typeface="Times New Roman" panose="02020603050405020304" pitchFamily="18" charset="0"/>
              </a:rPr>
              <a:t>Displays emotional states, scene information, timestamps, and person count in real time.</a:t>
            </a:r>
          </a:p>
          <a:p>
            <a:pPr marL="457200" lvl="0" indent="-317500" algn="just">
              <a:lnSpc>
                <a:spcPct val="150000"/>
              </a:lnSpc>
              <a:buClr>
                <a:srgbClr val="000000"/>
              </a:buClr>
              <a:buSzPts val="1400"/>
              <a:buChar char="●"/>
            </a:pPr>
            <a:r>
              <a:rPr lang="en-US" sz="2000" dirty="0">
                <a:latin typeface="Times New Roman" panose="02020603050405020304" pitchFamily="18" charset="0"/>
                <a:cs typeface="Times New Roman" panose="02020603050405020304" pitchFamily="18" charset="0"/>
              </a:rPr>
              <a:t>Generates emotion frequency graphs dynamically to track behavioral trends.</a:t>
            </a:r>
            <a:endParaRPr lang="en-US" dirty="0">
              <a:latin typeface="Times New Roman" panose="02020603050405020304" pitchFamily="18" charset="0"/>
              <a:cs typeface="Times New Roman" panose="02020603050405020304" pitchFamily="18" charset="0"/>
            </a:endParaRPr>
          </a:p>
          <a:p>
            <a:pPr marL="457200" lvl="0" indent="-317500" algn="just">
              <a:lnSpc>
                <a:spcPct val="150000"/>
              </a:lnSpc>
              <a:buClr>
                <a:srgbClr val="000000"/>
              </a:buClr>
              <a:buSzPts val="1400"/>
              <a:buChar char="●"/>
            </a:pPr>
            <a:r>
              <a:rPr lang="en-US" sz="2000" dirty="0">
                <a:latin typeface="Times New Roman" panose="02020603050405020304" pitchFamily="18" charset="0"/>
                <a:cs typeface="Times New Roman" panose="02020603050405020304" pitchFamily="18" charset="0"/>
              </a:rPr>
              <a:t>Demonstrates scalable architecture suitable for research, behavioral analytics, and real-world deployment.</a:t>
            </a:r>
            <a:endParaRPr lang="en-US" dirty="0">
              <a:latin typeface="Times New Roman" panose="02020603050405020304" pitchFamily="18" charset="0"/>
              <a:cs typeface="Times New Roman" panose="02020603050405020304" pitchFamily="18" charset="0"/>
            </a:endParaRPr>
          </a:p>
          <a:p>
            <a:pPr marL="457200" lvl="0" indent="-317500">
              <a:buClr>
                <a:srgbClr val="000000"/>
              </a:buClr>
              <a:buSzPts val="1400"/>
              <a:buChar char="●"/>
            </a:pPr>
            <a:endParaRPr lang="en-US" sz="1600" dirty="0"/>
          </a:p>
          <a:p>
            <a:pPr marL="457200" lvl="0" indent="-317500">
              <a:buClr>
                <a:srgbClr val="000000"/>
              </a:buClr>
              <a:buSzPts val="1400"/>
              <a:buChar char="●"/>
            </a:pP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pic>
        <p:nvPicPr>
          <p:cNvPr id="2" name="Picture 1">
            <a:extLst>
              <a:ext uri="{FF2B5EF4-FFF2-40B4-BE49-F238E27FC236}">
                <a16:creationId xmlns:a16="http://schemas.microsoft.com/office/drawing/2014/main" id="{2470459D-90D2-BFB0-439A-EC17921D54C9}"/>
              </a:ext>
            </a:extLst>
          </p:cNvPr>
          <p:cNvPicPr>
            <a:picLocks noChangeAspect="1"/>
          </p:cNvPicPr>
          <p:nvPr/>
        </p:nvPicPr>
        <p:blipFill>
          <a:blip r:embed="rId2"/>
          <a:stretch>
            <a:fillRect/>
          </a:stretch>
        </p:blipFill>
        <p:spPr>
          <a:xfrm>
            <a:off x="6476760" y="4920795"/>
            <a:ext cx="1897707" cy="1629873"/>
          </a:xfrm>
          <a:prstGeom prst="rect">
            <a:avLst/>
          </a:prstGeom>
        </p:spPr>
      </p:pic>
    </p:spTree>
    <p:extLst>
      <p:ext uri="{BB962C8B-B14F-4D97-AF65-F5344CB8AC3E}">
        <p14:creationId xmlns:p14="http://schemas.microsoft.com/office/powerpoint/2010/main" val="28298176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86ECD-E708-64EC-84E2-AF9467965B22}"/>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54E41A38-17AC-6A92-781C-9D7D0C67F81B}"/>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t>Limitations</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BC43815D-08FC-3DED-9D94-46FD41C27DBD}"/>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5</a:t>
            </a:fld>
            <a:endParaRPr lang="en-GB" sz="1200" b="0" strike="noStrike" spc="-1">
              <a:latin typeface="Times New Roman"/>
            </a:endParaRPr>
          </a:p>
        </p:txBody>
      </p:sp>
      <p:sp>
        <p:nvSpPr>
          <p:cNvPr id="5" name="TextShape 2">
            <a:extLst>
              <a:ext uri="{FF2B5EF4-FFF2-40B4-BE49-F238E27FC236}">
                <a16:creationId xmlns:a16="http://schemas.microsoft.com/office/drawing/2014/main" id="{CB445902-FD23-23F2-B2E3-1D18550EF0EE}"/>
              </a:ext>
            </a:extLst>
          </p:cNvPr>
          <p:cNvSpPr txBox="1"/>
          <p:nvPr/>
        </p:nvSpPr>
        <p:spPr>
          <a:xfrm>
            <a:off x="164008" y="1109742"/>
            <a:ext cx="8838720" cy="4838571"/>
          </a:xfrm>
          <a:prstGeom prst="rect">
            <a:avLst/>
          </a:prstGeom>
          <a:noFill/>
          <a:ln w="9360">
            <a:noFill/>
          </a:ln>
        </p:spPr>
        <p:txBody>
          <a:bodyPr>
            <a:noAutofit/>
          </a:bodyPr>
          <a:lstStyle/>
          <a:p>
            <a:pPr marL="342900" indent="-34290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Environmental factors</a:t>
            </a:r>
            <a:r>
              <a:rPr lang="en-US" sz="2000" dirty="0">
                <a:latin typeface="Times New Roman" panose="02020603050405020304" pitchFamily="18" charset="0"/>
                <a:cs typeface="Times New Roman" panose="02020603050405020304" pitchFamily="18" charset="0"/>
              </a:rPr>
              <a:t> – Low lighting, extreme camera angles, or motion blur may reduce accuracy.</a:t>
            </a:r>
          </a:p>
          <a:p>
            <a:pPr marL="342900" indent="-34290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Model bias</a:t>
            </a:r>
            <a:r>
              <a:rPr lang="en-US" sz="2000" dirty="0">
                <a:latin typeface="Times New Roman" panose="02020603050405020304" pitchFamily="18" charset="0"/>
                <a:cs typeface="Times New Roman" panose="02020603050405020304" pitchFamily="18" charset="0"/>
              </a:rPr>
              <a:t> – Pre-trained models may not fully represent cultural or demographic diversity.</a:t>
            </a:r>
          </a:p>
          <a:p>
            <a:pPr marL="342900" indent="-34290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Emotion recognition</a:t>
            </a:r>
            <a:r>
              <a:rPr lang="en-US" sz="2000" dirty="0">
                <a:latin typeface="Times New Roman" panose="02020603050405020304" pitchFamily="18" charset="0"/>
                <a:cs typeface="Times New Roman" panose="02020603050405020304" pitchFamily="18" charset="0"/>
              </a:rPr>
              <a:t> – Limited to predefined classes; subtle or mixed emotional states may not be detected.</a:t>
            </a:r>
          </a:p>
          <a:p>
            <a:pPr marL="342900" indent="-34290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No long‑term storage or cloud analytics</a:t>
            </a:r>
            <a:r>
              <a:rPr lang="en-US" sz="2000" dirty="0">
                <a:latin typeface="Times New Roman" panose="02020603050405020304" pitchFamily="18" charset="0"/>
                <a:cs typeface="Times New Roman" panose="02020603050405020304" pitchFamily="18" charset="0"/>
              </a:rPr>
              <a:t> – Currently offline for privacy/simplicity, but architecture supports future integration.</a:t>
            </a:r>
          </a:p>
          <a:p>
            <a:pPr marL="342900" indent="-34290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Scene recognition</a:t>
            </a:r>
            <a:r>
              <a:rPr lang="en-US" sz="2000" dirty="0">
                <a:latin typeface="Times New Roman" panose="02020603050405020304" pitchFamily="18" charset="0"/>
                <a:cs typeface="Times New Roman" panose="02020603050405020304" pitchFamily="18" charset="0"/>
              </a:rPr>
              <a:t> – Visually similar environments may occasionally be misclassified.</a:t>
            </a: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4024935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D0FDF-F23F-DA21-537A-5F0D52C09C78}"/>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17B64BBD-F9FF-069D-322D-793B683303B9}"/>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t>Proposed System</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6EFE9B4F-536C-7212-9BDC-D59F3DA9F671}"/>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6</a:t>
            </a:fld>
            <a:endParaRPr lang="en-GB" sz="1200" b="0" strike="noStrike" spc="-1">
              <a:latin typeface="Times New Roman"/>
            </a:endParaRPr>
          </a:p>
        </p:txBody>
      </p:sp>
      <p:sp>
        <p:nvSpPr>
          <p:cNvPr id="5" name="TextShape 2">
            <a:extLst>
              <a:ext uri="{FF2B5EF4-FFF2-40B4-BE49-F238E27FC236}">
                <a16:creationId xmlns:a16="http://schemas.microsoft.com/office/drawing/2014/main" id="{23A0400A-D2D4-6F1A-4FE2-BF458B1BF9AB}"/>
              </a:ext>
            </a:extLst>
          </p:cNvPr>
          <p:cNvSpPr txBox="1"/>
          <p:nvPr/>
        </p:nvSpPr>
        <p:spPr>
          <a:xfrm>
            <a:off x="164008" y="1109742"/>
            <a:ext cx="8838720" cy="4838571"/>
          </a:xfrm>
          <a:prstGeom prst="rect">
            <a:avLst/>
          </a:prstGeom>
          <a:noFill/>
          <a:ln w="9360">
            <a:noFill/>
          </a:ln>
        </p:spPr>
        <p:txBody>
          <a:bodyPr>
            <a:noAutofit/>
          </a:bodyPr>
          <a:lstStyle/>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The system overcomes limitations of traditional emotion detection methods by using pre-trained deep learning models instead of training datasets.</a:t>
            </a: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It works on live webcam input and performs real-time analysis of human emotions and surroundings.</a:t>
            </a: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Mood detection and environment recognition are carried out simultaneously for better understanding.</a:t>
            </a: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It provides real-time output including emotion, scene type, timestamp, and number of people detected.</a:t>
            </a: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The system performs context-aware analysis by combining emotional data with environmental conditions.</a:t>
            </a: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It supports detection of multiple individuals and summarizes group emotions effectively.</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The design is modular, allowing future enhancements like cloud integration, mobile deployment, and audio-based analysis.</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156677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7002E-F73D-9379-16EA-36D8A37A6567}"/>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6A7B2B60-ED2C-31DD-5CAA-CC0DB1B13975}"/>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t>System Architecture</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4635A26A-26A8-007D-EE86-20FCD8D96C01}"/>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7</a:t>
            </a:fld>
            <a:endParaRPr lang="en-GB" sz="1200" b="0" strike="noStrike" spc="-1">
              <a:latin typeface="Times New Roman"/>
            </a:endParaRPr>
          </a:p>
        </p:txBody>
      </p:sp>
      <p:sp>
        <p:nvSpPr>
          <p:cNvPr id="5" name="TextShape 2">
            <a:extLst>
              <a:ext uri="{FF2B5EF4-FFF2-40B4-BE49-F238E27FC236}">
                <a16:creationId xmlns:a16="http://schemas.microsoft.com/office/drawing/2014/main" id="{183D372C-ABD8-95CD-E1B3-38FD065D10FE}"/>
              </a:ext>
            </a:extLst>
          </p:cNvPr>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marL="139700" lvl="0">
              <a:buClr>
                <a:srgbClr val="000000"/>
              </a:buClr>
              <a:buSzPts val="1400"/>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pic>
        <p:nvPicPr>
          <p:cNvPr id="2" name="Image 4">
            <a:extLst>
              <a:ext uri="{FF2B5EF4-FFF2-40B4-BE49-F238E27FC236}">
                <a16:creationId xmlns:a16="http://schemas.microsoft.com/office/drawing/2014/main" id="{B8192F0C-857C-6ADC-3D5F-464C8928A062}"/>
              </a:ext>
            </a:extLst>
          </p:cNvPr>
          <p:cNvPicPr>
            <a:picLocks/>
          </p:cNvPicPr>
          <p:nvPr/>
        </p:nvPicPr>
        <p:blipFill>
          <a:blip r:embed="rId2" cstate="print"/>
          <a:stretch>
            <a:fillRect/>
          </a:stretch>
        </p:blipFill>
        <p:spPr>
          <a:xfrm>
            <a:off x="1828799" y="909687"/>
            <a:ext cx="5136315" cy="5801704"/>
          </a:xfrm>
          <a:prstGeom prst="rect">
            <a:avLst/>
          </a:prstGeom>
        </p:spPr>
      </p:pic>
    </p:spTree>
    <p:extLst>
      <p:ext uri="{BB962C8B-B14F-4D97-AF65-F5344CB8AC3E}">
        <p14:creationId xmlns:p14="http://schemas.microsoft.com/office/powerpoint/2010/main" val="970986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BDF8B-420A-CE05-C5B7-4BEEA701D942}"/>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F7E479A0-0348-60EE-1A8A-E7435C107315}"/>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t>Methodology / Working</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62922A41-7B88-9FBE-EB41-7EE1AE89B095}"/>
              </a:ext>
            </a:extLst>
          </p:cNvPr>
          <p:cNvSpPr txBox="1"/>
          <p:nvPr/>
        </p:nvSpPr>
        <p:spPr>
          <a:xfrm>
            <a:off x="7605266" y="6168630"/>
            <a:ext cx="746050" cy="18234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8</a:t>
            </a:fld>
            <a:endParaRPr lang="en-GB" sz="1200" b="0" strike="noStrike" spc="-1">
              <a:latin typeface="Times New Roman"/>
            </a:endParaRPr>
          </a:p>
        </p:txBody>
      </p:sp>
      <p:sp>
        <p:nvSpPr>
          <p:cNvPr id="5" name="TextShape 2">
            <a:extLst>
              <a:ext uri="{FF2B5EF4-FFF2-40B4-BE49-F238E27FC236}">
                <a16:creationId xmlns:a16="http://schemas.microsoft.com/office/drawing/2014/main" id="{1CFA9095-A4EB-4F23-6C11-DC8FAD8AAFF8}"/>
              </a:ext>
            </a:extLst>
          </p:cNvPr>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algn="just">
              <a:lnSpc>
                <a:spcPct val="150000"/>
              </a:lnSpc>
            </a:pPr>
            <a:r>
              <a:rPr lang="en-US" dirty="0">
                <a:latin typeface="Times New Roman" panose="02020603050405020304" pitchFamily="18" charset="0"/>
                <a:cs typeface="Times New Roman" panose="02020603050405020304" pitchFamily="18" charset="0"/>
              </a:rPr>
              <a:t>The system follows a structured step-by-step pipeline:</a:t>
            </a:r>
          </a:p>
          <a:p>
            <a:pPr algn="just">
              <a:lnSpc>
                <a:spcPct val="150000"/>
              </a:lnSpc>
            </a:pPr>
            <a:r>
              <a:rPr lang="en-US" dirty="0">
                <a:latin typeface="Times New Roman" panose="02020603050405020304" pitchFamily="18" charset="0"/>
                <a:cs typeface="Times New Roman" panose="02020603050405020304" pitchFamily="18" charset="0"/>
              </a:rPr>
              <a:t> </a:t>
            </a:r>
          </a:p>
          <a:p>
            <a:pPr marL="285750" lvl="0" indent="-285750" algn="just">
              <a:lnSpc>
                <a:spcPct val="150000"/>
              </a:lnSpc>
              <a:buSzPct val="1090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Capturing live video stream using the webcam.</a:t>
            </a:r>
          </a:p>
          <a:p>
            <a:pPr marL="285750" lvl="0" indent="-285750" algn="just">
              <a:lnSpc>
                <a:spcPct val="150000"/>
              </a:lnSpc>
              <a:buSzPct val="1090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Processing frames for emotion inference using pretrained models.</a:t>
            </a:r>
          </a:p>
          <a:p>
            <a:pPr marL="285750" lvl="0" indent="-285750" algn="just">
              <a:lnSpc>
                <a:spcPct val="150000"/>
              </a:lnSpc>
              <a:buSzPct val="1090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Running environment analysis at intervals for context recognition.</a:t>
            </a:r>
          </a:p>
          <a:p>
            <a:pPr marL="285750" lvl="0" indent="-285750" algn="just">
              <a:lnSpc>
                <a:spcPct val="150000"/>
              </a:lnSpc>
              <a:buSzPct val="1090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Detecting and counting individuals present in the frame.</a:t>
            </a:r>
          </a:p>
          <a:p>
            <a:pPr marL="285750" lvl="0" indent="-285750" algn="just">
              <a:lnSpc>
                <a:spcPct val="150000"/>
              </a:lnSpc>
              <a:buSzPct val="1090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Annotating the results directly onto the live feed.</a:t>
            </a:r>
          </a:p>
          <a:p>
            <a:pPr marL="285750" lvl="0" indent="-285750" algn="just">
              <a:lnSpc>
                <a:spcPct val="150000"/>
              </a:lnSpc>
              <a:buSzPct val="1090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Updating the real-time emotion distribution graph.</a:t>
            </a:r>
          </a:p>
          <a:p>
            <a:pPr marL="285750" lvl="0" indent="-285750" algn="just">
              <a:lnSpc>
                <a:spcPct val="150000"/>
              </a:lnSpc>
              <a:buSzPct val="1090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Displaying combined output through an interactive window.</a:t>
            </a:r>
          </a:p>
          <a:p>
            <a:pPr marL="457200" lvl="0" indent="-317500">
              <a:buClr>
                <a:srgbClr val="000000"/>
              </a:buClr>
              <a:buSzPts val="1400"/>
              <a:buChar char="●"/>
            </a:pP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pic>
        <p:nvPicPr>
          <p:cNvPr id="1028" name="Picture 4" descr="Methodology Icon Vector Art, Icons, and Graphics for Free Download">
            <a:extLst>
              <a:ext uri="{FF2B5EF4-FFF2-40B4-BE49-F238E27FC236}">
                <a16:creationId xmlns:a16="http://schemas.microsoft.com/office/drawing/2014/main" id="{CA3E213A-9EE0-EC19-C785-17FA1D441E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1416" y="4914820"/>
            <a:ext cx="1666875" cy="1666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9286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7D351-09BA-215D-DD1E-B622B7D92899}"/>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D33D22A2-356A-137A-E9B1-74435A56D9CB}"/>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t>Methodology / Working</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48BA56A1-F573-A5BD-3065-DD1DADE58AFC}"/>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9</a:t>
            </a:fld>
            <a:endParaRPr lang="en-GB" sz="1200" b="0" strike="noStrike" spc="-1">
              <a:latin typeface="Times New Roman"/>
            </a:endParaRPr>
          </a:p>
        </p:txBody>
      </p:sp>
      <p:sp>
        <p:nvSpPr>
          <p:cNvPr id="5" name="TextShape 2">
            <a:extLst>
              <a:ext uri="{FF2B5EF4-FFF2-40B4-BE49-F238E27FC236}">
                <a16:creationId xmlns:a16="http://schemas.microsoft.com/office/drawing/2014/main" id="{6621232B-F122-99C7-1C09-6ED7A5696A5C}"/>
              </a:ext>
            </a:extLst>
          </p:cNvPr>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marL="457200" lvl="0" indent="-317500">
              <a:buClr>
                <a:srgbClr val="000000"/>
              </a:buClr>
              <a:buSzPts val="1400"/>
              <a:buChar char="●"/>
            </a:pP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pic>
        <p:nvPicPr>
          <p:cNvPr id="2" name="Image 3">
            <a:extLst>
              <a:ext uri="{FF2B5EF4-FFF2-40B4-BE49-F238E27FC236}">
                <a16:creationId xmlns:a16="http://schemas.microsoft.com/office/drawing/2014/main" id="{D58E6737-68D2-6095-A018-526911BCBC92}"/>
              </a:ext>
            </a:extLst>
          </p:cNvPr>
          <p:cNvPicPr>
            <a:picLocks/>
          </p:cNvPicPr>
          <p:nvPr/>
        </p:nvPicPr>
        <p:blipFill>
          <a:blip r:embed="rId2" cstate="print"/>
          <a:stretch>
            <a:fillRect/>
          </a:stretch>
        </p:blipFill>
        <p:spPr>
          <a:xfrm>
            <a:off x="1077238" y="1433817"/>
            <a:ext cx="6507345" cy="4182371"/>
          </a:xfrm>
          <a:prstGeom prst="rect">
            <a:avLst/>
          </a:prstGeom>
        </p:spPr>
      </p:pic>
    </p:spTree>
    <p:extLst>
      <p:ext uri="{BB962C8B-B14F-4D97-AF65-F5344CB8AC3E}">
        <p14:creationId xmlns:p14="http://schemas.microsoft.com/office/powerpoint/2010/main" val="1155066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A9174-652C-16E3-2EC4-F9DE73989EAF}"/>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C1B094D7-C2F3-4DD3-BB74-0ABC2C1A84E2}"/>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t>Tools &amp; Technologies</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592CFD5C-CB12-9ECC-88FE-DA339BEA829E}"/>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10</a:t>
            </a:fld>
            <a:endParaRPr lang="en-GB" sz="1200" b="0" strike="noStrike" spc="-1">
              <a:latin typeface="Times New Roman"/>
            </a:endParaRPr>
          </a:p>
        </p:txBody>
      </p:sp>
      <p:sp>
        <p:nvSpPr>
          <p:cNvPr id="5" name="TextShape 2">
            <a:extLst>
              <a:ext uri="{FF2B5EF4-FFF2-40B4-BE49-F238E27FC236}">
                <a16:creationId xmlns:a16="http://schemas.microsoft.com/office/drawing/2014/main" id="{0AF630BA-C028-C0E4-C7A5-B06A74AA77D6}"/>
              </a:ext>
            </a:extLst>
          </p:cNvPr>
          <p:cNvSpPr txBox="1"/>
          <p:nvPr/>
        </p:nvSpPr>
        <p:spPr>
          <a:xfrm>
            <a:off x="163423" y="977780"/>
            <a:ext cx="8817154" cy="5378740"/>
          </a:xfrm>
          <a:prstGeom prst="rect">
            <a:avLst/>
          </a:prstGeom>
          <a:noFill/>
          <a:ln w="9360">
            <a:noFill/>
          </a:ln>
        </p:spPr>
        <p:txBody>
          <a:bodyPr>
            <a:noAutofit/>
          </a:bodyPr>
          <a:lstStyle/>
          <a:p>
            <a:pPr marL="285750" lvl="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Python</a:t>
            </a:r>
            <a:r>
              <a:rPr lang="en-US" sz="2000" dirty="0">
                <a:latin typeface="Times New Roman" panose="02020603050405020304" pitchFamily="18" charset="0"/>
                <a:cs typeface="Times New Roman" panose="02020603050405020304" pitchFamily="18" charset="0"/>
              </a:rPr>
              <a:t> – Used as the main programming language for developing the entire system. </a:t>
            </a:r>
          </a:p>
          <a:p>
            <a:pPr marL="285750" lvl="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OpenCV</a:t>
            </a:r>
            <a:r>
              <a:rPr lang="en-US" sz="2000" dirty="0">
                <a:latin typeface="Times New Roman" panose="02020603050405020304" pitchFamily="18" charset="0"/>
                <a:cs typeface="Times New Roman" panose="02020603050405020304" pitchFamily="18" charset="0"/>
              </a:rPr>
              <a:t> – Helps in capturing live video, detecting faces, and displaying results with proper visual output. </a:t>
            </a:r>
          </a:p>
          <a:p>
            <a:pPr marL="285750" lvl="0" indent="-285750" algn="just">
              <a:buFont typeface="Arial" panose="020B0604020202020204" pitchFamily="34" charset="0"/>
              <a:buChar char="•"/>
            </a:pPr>
            <a:r>
              <a:rPr lang="en-US" sz="2000" b="1" dirty="0" err="1">
                <a:latin typeface="Times New Roman" panose="02020603050405020304" pitchFamily="18" charset="0"/>
                <a:cs typeface="Times New Roman" panose="02020603050405020304" pitchFamily="18" charset="0"/>
              </a:rPr>
              <a:t>DeepFace</a:t>
            </a:r>
            <a:r>
              <a:rPr lang="en-US" sz="2000" dirty="0">
                <a:latin typeface="Times New Roman" panose="02020603050405020304" pitchFamily="18" charset="0"/>
                <a:cs typeface="Times New Roman" panose="02020603050405020304" pitchFamily="18" charset="0"/>
              </a:rPr>
              <a:t> – Used for detecting facial attributes such as emotion, age, gender, and race. </a:t>
            </a:r>
          </a:p>
          <a:p>
            <a:pPr marL="285750" lvl="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ResNet18 (Places365 Model) </a:t>
            </a:r>
            <a:r>
              <a:rPr lang="en-US" sz="2000" dirty="0">
                <a:latin typeface="Times New Roman" panose="02020603050405020304" pitchFamily="18" charset="0"/>
                <a:cs typeface="Times New Roman" panose="02020603050405020304" pitchFamily="18" charset="0"/>
              </a:rPr>
              <a:t>– A pre-trained model used to recognize and classify the surrounding environment. </a:t>
            </a:r>
          </a:p>
          <a:p>
            <a:pPr marL="285750" lvl="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MTCNN</a:t>
            </a:r>
            <a:r>
              <a:rPr lang="en-US" sz="2000" dirty="0">
                <a:latin typeface="Times New Roman" panose="02020603050405020304" pitchFamily="18" charset="0"/>
                <a:cs typeface="Times New Roman" panose="02020603050405020304" pitchFamily="18" charset="0"/>
              </a:rPr>
              <a:t> – Used for accurate face detection and identifying facial landmarks. </a:t>
            </a:r>
          </a:p>
          <a:p>
            <a:pPr marL="285750" lvl="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Deep Learning &amp; CNNs</a:t>
            </a:r>
            <a:r>
              <a:rPr lang="en-US" sz="2000" dirty="0">
                <a:latin typeface="Times New Roman" panose="02020603050405020304" pitchFamily="18" charset="0"/>
                <a:cs typeface="Times New Roman" panose="02020603050405020304" pitchFamily="18" charset="0"/>
              </a:rPr>
              <a:t> – Core techniques used for processing and analyzing image data. </a:t>
            </a:r>
          </a:p>
          <a:p>
            <a:pPr marL="285750" lvl="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Computer Vision</a:t>
            </a:r>
            <a:r>
              <a:rPr lang="en-US" sz="2000" dirty="0">
                <a:latin typeface="Times New Roman" panose="02020603050405020304" pitchFamily="18" charset="0"/>
                <a:cs typeface="Times New Roman" panose="02020603050405020304" pitchFamily="18" charset="0"/>
              </a:rPr>
              <a:t> – Enables the system to understand and interpret visual input from the webcam. </a:t>
            </a:r>
          </a:p>
          <a:p>
            <a:pPr marL="28575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Multithreading</a:t>
            </a:r>
            <a:r>
              <a:rPr lang="en-US" sz="2000" dirty="0">
                <a:latin typeface="Times New Roman" panose="02020603050405020304" pitchFamily="18" charset="0"/>
                <a:cs typeface="Times New Roman" panose="02020603050405020304" pitchFamily="18" charset="0"/>
              </a:rPr>
              <a:t> – Ensures smooth execution by running multiple tasks simultaneously without slowing down the system.</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pic>
        <p:nvPicPr>
          <p:cNvPr id="2058" name="Picture 10" descr="Tools Icon PNG Images, Vectors Free Download - Pngtree">
            <a:extLst>
              <a:ext uri="{FF2B5EF4-FFF2-40B4-BE49-F238E27FC236}">
                <a16:creationId xmlns:a16="http://schemas.microsoft.com/office/drawing/2014/main" id="{33278F32-2F8D-443A-4ECA-7493A695FAB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53080" y="5336003"/>
            <a:ext cx="1385197" cy="12902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3847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6ABCE-3839-F854-6EA3-417ED62C035E}"/>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0634A460-DCE4-ABE9-8AE3-58B2F04D93D3}"/>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t>Results</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9F32676E-F987-E560-F965-86CD85D68DB8}"/>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11</a:t>
            </a:fld>
            <a:endParaRPr lang="en-GB" sz="1200" b="0" strike="noStrike" spc="-1">
              <a:latin typeface="Times New Roman"/>
            </a:endParaRPr>
          </a:p>
        </p:txBody>
      </p:sp>
      <p:sp>
        <p:nvSpPr>
          <p:cNvPr id="5" name="TextShape 2">
            <a:extLst>
              <a:ext uri="{FF2B5EF4-FFF2-40B4-BE49-F238E27FC236}">
                <a16:creationId xmlns:a16="http://schemas.microsoft.com/office/drawing/2014/main" id="{C5B84BBC-CAEA-A744-0085-D1FBBD25677D}"/>
              </a:ext>
            </a:extLst>
          </p:cNvPr>
          <p:cNvSpPr txBox="1"/>
          <p:nvPr/>
        </p:nvSpPr>
        <p:spPr>
          <a:xfrm>
            <a:off x="164008" y="1109742"/>
            <a:ext cx="8838720" cy="4865173"/>
          </a:xfrm>
          <a:prstGeom prst="rect">
            <a:avLst/>
          </a:prstGeom>
          <a:noFill/>
          <a:ln w="9360">
            <a:noFill/>
          </a:ln>
        </p:spPr>
        <p:txBody>
          <a:bodyPr>
            <a:no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algn="just"/>
            <a:r>
              <a:rPr lang="en-US" sz="2000" dirty="0">
                <a:latin typeface="Times New Roman" panose="02020603050405020304" pitchFamily="18" charset="0"/>
                <a:cs typeface="Times New Roman" panose="02020603050405020304" pitchFamily="18" charset="0"/>
              </a:rPr>
              <a:t>A graphical representation of emotional trends was displayed alongside the live video feed to provide a visual summary of emotional patterns over time.</a:t>
            </a:r>
          </a:p>
        </p:txBody>
      </p:sp>
      <p:pic>
        <p:nvPicPr>
          <p:cNvPr id="2" name="Image 5">
            <a:extLst>
              <a:ext uri="{FF2B5EF4-FFF2-40B4-BE49-F238E27FC236}">
                <a16:creationId xmlns:a16="http://schemas.microsoft.com/office/drawing/2014/main" id="{1A2F473D-219D-99E9-B954-AB2C9448D31E}"/>
              </a:ext>
            </a:extLst>
          </p:cNvPr>
          <p:cNvPicPr>
            <a:picLocks/>
          </p:cNvPicPr>
          <p:nvPr/>
        </p:nvPicPr>
        <p:blipFill>
          <a:blip r:embed="rId2" cstate="print"/>
          <a:stretch>
            <a:fillRect/>
          </a:stretch>
        </p:blipFill>
        <p:spPr>
          <a:xfrm>
            <a:off x="1803748" y="1109742"/>
            <a:ext cx="5816012" cy="3211737"/>
          </a:xfrm>
          <a:prstGeom prst="rect">
            <a:avLst/>
          </a:prstGeom>
        </p:spPr>
      </p:pic>
    </p:spTree>
    <p:extLst>
      <p:ext uri="{BB962C8B-B14F-4D97-AF65-F5344CB8AC3E}">
        <p14:creationId xmlns:p14="http://schemas.microsoft.com/office/powerpoint/2010/main" val="3535065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33E0E-DB52-040F-9733-1FDF04625547}"/>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059E4E14-B332-5471-6783-226D57BD6199}"/>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t>Future Scope</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BF2BBAF9-6A57-B60D-753A-67DE2FE49AE9}"/>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12</a:t>
            </a:fld>
            <a:endParaRPr lang="en-GB" sz="1200" b="0" strike="noStrike" spc="-1">
              <a:latin typeface="Times New Roman"/>
            </a:endParaRPr>
          </a:p>
        </p:txBody>
      </p:sp>
      <p:sp>
        <p:nvSpPr>
          <p:cNvPr id="5" name="TextShape 2">
            <a:extLst>
              <a:ext uri="{FF2B5EF4-FFF2-40B4-BE49-F238E27FC236}">
                <a16:creationId xmlns:a16="http://schemas.microsoft.com/office/drawing/2014/main" id="{D0856733-34D0-78BB-14A9-206860057376}"/>
              </a:ext>
            </a:extLst>
          </p:cNvPr>
          <p:cNvSpPr txBox="1"/>
          <p:nvPr/>
        </p:nvSpPr>
        <p:spPr>
          <a:xfrm>
            <a:off x="164008" y="1109742"/>
            <a:ext cx="8829680" cy="5611458"/>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Emotion detection can be enhanced to identify </a:t>
            </a:r>
            <a:r>
              <a:rPr lang="en-US" sz="2000" b="1" dirty="0">
                <a:latin typeface="Times New Roman" panose="02020603050405020304" pitchFamily="18" charset="0"/>
                <a:cs typeface="Times New Roman" panose="02020603050405020304" pitchFamily="18" charset="0"/>
              </a:rPr>
              <a:t>complex and subtle emotions</a:t>
            </a:r>
            <a:r>
              <a:rPr lang="en-US" sz="2000" dirty="0">
                <a:latin typeface="Times New Roman" panose="02020603050405020304" pitchFamily="18" charset="0"/>
                <a:cs typeface="Times New Roman" panose="02020603050405020304" pitchFamily="18" charset="0"/>
              </a:rPr>
              <a:t> beyond basic categories.</a:t>
            </a: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Integration of </a:t>
            </a:r>
            <a:r>
              <a:rPr lang="en-US" sz="2000" b="1" dirty="0">
                <a:latin typeface="Times New Roman" panose="02020603050405020304" pitchFamily="18" charset="0"/>
                <a:cs typeface="Times New Roman" panose="02020603050405020304" pitchFamily="18" charset="0"/>
              </a:rPr>
              <a:t>voice-based sentiment analysis</a:t>
            </a:r>
            <a:r>
              <a:rPr lang="en-US" sz="2000" dirty="0">
                <a:latin typeface="Times New Roman" panose="02020603050405020304" pitchFamily="18" charset="0"/>
                <a:cs typeface="Times New Roman" panose="02020603050405020304" pitchFamily="18" charset="0"/>
              </a:rPr>
              <a:t> can improve overall accuracy of emotion recognition.</a:t>
            </a:r>
          </a:p>
          <a:p>
            <a:pPr marL="457200" lvl="0" indent="-317500" algn="just">
              <a:buClr>
                <a:srgbClr val="000000"/>
              </a:buClr>
              <a:buSzPts val="1400"/>
              <a:buChar char="●"/>
            </a:pPr>
            <a:r>
              <a:rPr lang="en-US" sz="2000" b="1" dirty="0">
                <a:latin typeface="Times New Roman" panose="02020603050405020304" pitchFamily="18" charset="0"/>
                <a:cs typeface="Times New Roman" panose="02020603050405020304" pitchFamily="18" charset="0"/>
              </a:rPr>
              <a:t>Cloud storage and processing</a:t>
            </a:r>
            <a:r>
              <a:rPr lang="en-US" sz="2000" dirty="0">
                <a:latin typeface="Times New Roman" panose="02020603050405020304" pitchFamily="18" charset="0"/>
                <a:cs typeface="Times New Roman" panose="02020603050405020304" pitchFamily="18" charset="0"/>
              </a:rPr>
              <a:t> can be added for long-term data tracking and remote access.</a:t>
            </a: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The system can be extended to </a:t>
            </a:r>
            <a:r>
              <a:rPr lang="en-US" sz="2000" b="1" dirty="0">
                <a:latin typeface="Times New Roman" panose="02020603050405020304" pitchFamily="18" charset="0"/>
                <a:cs typeface="Times New Roman" panose="02020603050405020304" pitchFamily="18" charset="0"/>
              </a:rPr>
              <a:t>mobile and IoT devices</a:t>
            </a:r>
            <a:r>
              <a:rPr lang="en-US" sz="2000" dirty="0">
                <a:latin typeface="Times New Roman" panose="02020603050405020304" pitchFamily="18" charset="0"/>
                <a:cs typeface="Times New Roman" panose="02020603050405020304" pitchFamily="18" charset="0"/>
              </a:rPr>
              <a:t> for wider real-world applications.</a:t>
            </a: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Advanced features like </a:t>
            </a:r>
            <a:r>
              <a:rPr lang="en-US" sz="2000" b="1" dirty="0">
                <a:latin typeface="Times New Roman" panose="02020603050405020304" pitchFamily="18" charset="0"/>
                <a:cs typeface="Times New Roman" panose="02020603050405020304" pitchFamily="18" charset="0"/>
              </a:rPr>
              <a:t>gesture, posture, and gaze detection</a:t>
            </a:r>
            <a:r>
              <a:rPr lang="en-US" sz="2000" dirty="0">
                <a:latin typeface="Times New Roman" panose="02020603050405020304" pitchFamily="18" charset="0"/>
                <a:cs typeface="Times New Roman" panose="02020603050405020304" pitchFamily="18" charset="0"/>
              </a:rPr>
              <a:t> can improve behavioral analysis.</a:t>
            </a:r>
          </a:p>
          <a:p>
            <a:pPr marL="457200" lvl="0" indent="-317500" algn="just">
              <a:buClr>
                <a:srgbClr val="000000"/>
              </a:buClr>
              <a:buSzPts val="1400"/>
              <a:buChar char="●"/>
            </a:pPr>
            <a:r>
              <a:rPr lang="en-US" sz="2000" dirty="0">
                <a:latin typeface="Times New Roman" panose="02020603050405020304" pitchFamily="18" charset="0"/>
                <a:cs typeface="Times New Roman" panose="02020603050405020304" pitchFamily="18" charset="0"/>
              </a:rPr>
              <a:t>Models can be improved using </a:t>
            </a:r>
            <a:r>
              <a:rPr lang="en-US" sz="2000" b="1" dirty="0">
                <a:latin typeface="Times New Roman" panose="02020603050405020304" pitchFamily="18" charset="0"/>
                <a:cs typeface="Times New Roman" panose="02020603050405020304" pitchFamily="18" charset="0"/>
              </a:rPr>
              <a:t>personalized learning and cross-cultural adaptation</a:t>
            </a:r>
            <a:r>
              <a:rPr lang="en-US" sz="2000" dirty="0">
                <a:latin typeface="Times New Roman" panose="02020603050405020304" pitchFamily="18" charset="0"/>
                <a:cs typeface="Times New Roman" panose="02020603050405020304" pitchFamily="18" charset="0"/>
              </a:rPr>
              <a:t> for better accuracy.</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pic>
        <p:nvPicPr>
          <p:cNvPr id="2" name="Picture 1">
            <a:extLst>
              <a:ext uri="{FF2B5EF4-FFF2-40B4-BE49-F238E27FC236}">
                <a16:creationId xmlns:a16="http://schemas.microsoft.com/office/drawing/2014/main" id="{6E486961-C8FD-88EB-74FD-11C29E131B03}"/>
              </a:ext>
            </a:extLst>
          </p:cNvPr>
          <p:cNvPicPr>
            <a:picLocks noChangeAspect="1"/>
          </p:cNvPicPr>
          <p:nvPr/>
        </p:nvPicPr>
        <p:blipFill>
          <a:blip r:embed="rId2"/>
          <a:srcRect l="10782" t="11578" r="15952" b="10436"/>
          <a:stretch>
            <a:fillRect/>
          </a:stretch>
        </p:blipFill>
        <p:spPr>
          <a:xfrm>
            <a:off x="6553080" y="4955131"/>
            <a:ext cx="1864410" cy="1586253"/>
          </a:xfrm>
          <a:prstGeom prst="rect">
            <a:avLst/>
          </a:prstGeom>
        </p:spPr>
      </p:pic>
    </p:spTree>
    <p:extLst>
      <p:ext uri="{BB962C8B-B14F-4D97-AF65-F5344CB8AC3E}">
        <p14:creationId xmlns:p14="http://schemas.microsoft.com/office/powerpoint/2010/main" val="702616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65F0D-A7E1-D5C2-E887-80C8B74D4BC5}"/>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085DFFF4-DC4D-9C5E-854E-C8AA58122C47}"/>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t>Conclusion</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8D4BDE99-CE84-51A0-4975-8C5F89E9282B}"/>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13</a:t>
            </a:fld>
            <a:endParaRPr lang="en-GB" sz="1200" b="0" strike="noStrike" spc="-1">
              <a:latin typeface="Times New Roman"/>
            </a:endParaRPr>
          </a:p>
        </p:txBody>
      </p:sp>
      <p:sp>
        <p:nvSpPr>
          <p:cNvPr id="5" name="TextShape 2">
            <a:extLst>
              <a:ext uri="{FF2B5EF4-FFF2-40B4-BE49-F238E27FC236}">
                <a16:creationId xmlns:a16="http://schemas.microsoft.com/office/drawing/2014/main" id="{07B61AF6-9CE2-DCCD-DBC3-A3FCEAAC1223}"/>
              </a:ext>
            </a:extLst>
          </p:cNvPr>
          <p:cNvSpPr txBox="1"/>
          <p:nvPr/>
        </p:nvSpPr>
        <p:spPr>
          <a:xfrm>
            <a:off x="169686" y="981591"/>
            <a:ext cx="8804628" cy="4894818"/>
          </a:xfrm>
          <a:prstGeom prst="rect">
            <a:avLst/>
          </a:prstGeom>
          <a:noFill/>
          <a:ln w="9360">
            <a:noFill/>
          </a:ln>
        </p:spPr>
        <p:txBody>
          <a:bodyPr>
            <a:noAutofit/>
          </a:bodyPr>
          <a:lstStyle/>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Live AI Interprets Emotion with Contextual Awareness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 Curated Datasets or Offline Processing</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Pretrained Models + Real-Time Webcam Input</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Accessible, Scalable, Deployable in Everyday Settings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Real-Time Emotion ID, Multi-Person Awareness, and Scene Classification</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Live Output Overlays and Trend Graphs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Environment Recognition Enhances Emotional Interpretation</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Intelligent, Responsive, Context-Driven Mood Recognition Platform</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Ready for Education, Analytics, Security, Adaptive UIs, and Mental Health Support</a:t>
            </a: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pic>
        <p:nvPicPr>
          <p:cNvPr id="1028" name="Picture 4" descr="Conclusion Generic black outline icon | Freepik">
            <a:extLst>
              <a:ext uri="{FF2B5EF4-FFF2-40B4-BE49-F238E27FC236}">
                <a16:creationId xmlns:a16="http://schemas.microsoft.com/office/drawing/2014/main" id="{6A47FE6E-361D-BE7F-C2C7-C269AD37F51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65461" y="5153525"/>
            <a:ext cx="1763579" cy="14457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866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14</a:t>
            </a:fld>
            <a:endParaRPr lang="en-GB" sz="1200" b="0" strike="noStrike" spc="-1" dirty="0">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36295</TotalTime>
  <Words>927</Words>
  <Application>Microsoft Office PowerPoint</Application>
  <PresentationFormat>On-screen Show (4:3)</PresentationFormat>
  <Paragraphs>214</Paragraphs>
  <Slides>14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Rupali Wadhwa</cp:lastModifiedBy>
  <cp:revision>2309</cp:revision>
  <dcterms:created xsi:type="dcterms:W3CDTF">2010-04-09T07:36:15Z</dcterms:created>
  <dcterms:modified xsi:type="dcterms:W3CDTF">2026-05-17T15:07:54Z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