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57" r:id="rId6"/>
    <p:sldId id="269" r:id="rId7"/>
    <p:sldId id="270" r:id="rId8"/>
    <p:sldId id="276" r:id="rId9"/>
    <p:sldId id="271" r:id="rId10"/>
    <p:sldId id="272" r:id="rId11"/>
    <p:sldId id="279" r:id="rId12"/>
    <p:sldId id="273" r:id="rId13"/>
    <p:sldId id="274" r:id="rId14"/>
    <p:sldId id="275" r:id="rId15"/>
    <p:sldId id="277" r:id="rId16"/>
    <p:sldId id="278"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IN" sz="2800" b="1" dirty="0"/>
              <a:t>Mood Detection and Environment Analyzation </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Rupali Wadhwa</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2210990748</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dirty="0"/>
              <a:t>Dr. Gurpreet Singh</a:t>
            </a:r>
          </a:p>
          <a:p>
            <a:pPr algn="ctr">
              <a:lnSpc>
                <a:spcPct val="100000"/>
              </a:lnSpc>
              <a:spcBef>
                <a:spcPts val="400"/>
              </a:spcBef>
            </a:pPr>
            <a:r>
              <a:rPr lang="en-IN" dirty="0"/>
              <a:t>Associate Professor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Human–computer interaction is evolving with intelligent systems that can understand human behavior.</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AI-based mood detection helps in analyzing emotions and improving system responses.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has applications in mental health, education, marketing, security, and personalized systems.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Traditional systems only respond to commands, but modern systems can understand non-verbal cues.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Deep learning enables detection of emotions, behavior patterns, and surroundings.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FB5AC27C-BA73-A0B7-05B2-A7CEF8559D1F}"/>
              </a:ext>
            </a:extLst>
          </p:cNvPr>
          <p:cNvPicPr>
            <a:picLocks noChangeAspect="1"/>
          </p:cNvPicPr>
          <p:nvPr/>
        </p:nvPicPr>
        <p:blipFill>
          <a:blip r:embed="rId2"/>
          <a:stretch>
            <a:fillRect/>
          </a:stretch>
        </p:blipFill>
        <p:spPr>
          <a:xfrm>
            <a:off x="5958600" y="4372147"/>
            <a:ext cx="2481476" cy="19843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61485-E051-1F2C-B524-D594BAFC0C5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1E716A3-E5F9-D6DC-8D28-9981835623FD}"/>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Problem Statement</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9D0D531-337E-3FD6-51E7-AE51EC4BF3C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54ACEF73-3732-FFBD-B092-3C28A65432D4}"/>
              </a:ext>
            </a:extLst>
          </p:cNvPr>
          <p:cNvSpPr txBox="1"/>
          <p:nvPr/>
        </p:nvSpPr>
        <p:spPr>
          <a:xfrm>
            <a:off x="164008" y="1109742"/>
            <a:ext cx="8838720" cy="4838571"/>
          </a:xfrm>
          <a:prstGeom prst="rect">
            <a:avLst/>
          </a:prstGeom>
          <a:noFill/>
          <a:ln w="9360">
            <a:noFill/>
          </a:ln>
        </p:spPr>
        <p:txBody>
          <a:bodyPr>
            <a:noAutofit/>
          </a:bodyPr>
          <a:lstStyle/>
          <a:p>
            <a:pPr marL="139700" lvl="0" algn="just">
              <a:lnSpc>
                <a:spcPct val="150000"/>
              </a:lnSpc>
              <a:buClr>
                <a:srgbClr val="000000"/>
              </a:buClr>
              <a:buSzPts val="1400"/>
            </a:pPr>
            <a:r>
              <a:rPr lang="en-US" dirty="0">
                <a:latin typeface="Times New Roman" panose="02020603050405020304" pitchFamily="18" charset="0"/>
                <a:cs typeface="Times New Roman" panose="02020603050405020304" pitchFamily="18" charset="0"/>
              </a:rPr>
              <a:t>Many existing emotion detection systems are limited because they focus only on identifying facial expressions without considering the surrounding environment. This lack of context makes it difficult to understand why a person is showing a particular emotion or how external factors influence it. As a result, these systems often struggle with real-time performance, handling multiple individuals, and tracking emotional patterns over time. Research also shows that factors like lighting, background, noise, and location can significantly affect accuracy when ignored. Therefore, there is a need for a more advanced system that combines emotion detection with environmental analysis to provide a deeper and more meaningful understanding of human behavior.</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8D190A13-4F3D-E241-4B4F-F587A49B7ABB}"/>
              </a:ext>
            </a:extLst>
          </p:cNvPr>
          <p:cNvPicPr>
            <a:picLocks noChangeAspect="1"/>
          </p:cNvPicPr>
          <p:nvPr/>
        </p:nvPicPr>
        <p:blipFill>
          <a:blip r:embed="rId2"/>
          <a:stretch>
            <a:fillRect/>
          </a:stretch>
        </p:blipFill>
        <p:spPr>
          <a:xfrm>
            <a:off x="5735080" y="4800935"/>
            <a:ext cx="2425511" cy="1894645"/>
          </a:xfrm>
          <a:prstGeom prst="rect">
            <a:avLst/>
          </a:prstGeom>
        </p:spPr>
      </p:pic>
    </p:spTree>
    <p:extLst>
      <p:ext uri="{BB962C8B-B14F-4D97-AF65-F5344CB8AC3E}">
        <p14:creationId xmlns:p14="http://schemas.microsoft.com/office/powerpoint/2010/main" val="3958492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4F979-267F-D815-EBFC-A0CE00C3514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1EEEA1B-2771-1596-5239-083BB3D65D7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Objectives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07DA3E6-CD68-8FA1-F9BF-D8A4BA66E89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122756B5-1CD1-86F5-0458-48832A591C08}"/>
              </a:ext>
            </a:extLst>
          </p:cNvPr>
          <p:cNvSpPr txBox="1"/>
          <p:nvPr/>
        </p:nvSpPr>
        <p:spPr>
          <a:xfrm>
            <a:off x="152640" y="1122268"/>
            <a:ext cx="8838720" cy="4838571"/>
          </a:xfrm>
          <a:prstGeom prst="rect">
            <a:avLst/>
          </a:prstGeom>
          <a:noFill/>
          <a:ln w="9360">
            <a:noFill/>
          </a:ln>
        </p:spPr>
        <p:txBody>
          <a:bodyPr>
            <a:noAutofit/>
          </a:bodyPr>
          <a:lstStyle/>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Detects and classifies emotional states from live video streams using deep learning.</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Identifies and analyzes the surroundings to provide environmental context.</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Supports multi-person emotional recognition and visualization simultaneously.</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Displays emotional states, scene information, timestamps, and person count in real time.</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Generates emotion frequency graphs dynamically to track behavioral trends.</a:t>
            </a:r>
            <a:endParaRPr lang="en-US" dirty="0">
              <a:latin typeface="Times New Roman" panose="02020603050405020304" pitchFamily="18" charset="0"/>
              <a:cs typeface="Times New Roman" panose="02020603050405020304" pitchFamily="18" charset="0"/>
            </a:endParaRP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Demonstrates scalable architecture suitable for research, behavioral analytics, and real-world deployment.</a:t>
            </a:r>
            <a:endParaRPr lang="en-US" dirty="0">
              <a:latin typeface="Times New Roman" panose="02020603050405020304" pitchFamily="18" charset="0"/>
              <a:cs typeface="Times New Roman" panose="02020603050405020304" pitchFamily="18" charset="0"/>
            </a:endParaRPr>
          </a:p>
          <a:p>
            <a:pPr marL="457200" lvl="0" indent="-317500">
              <a:buClr>
                <a:srgbClr val="000000"/>
              </a:buClr>
              <a:buSzPts val="1400"/>
              <a:buChar char="●"/>
            </a:pPr>
            <a:endParaRPr lang="en-US" sz="1600" dirty="0"/>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2470459D-90D2-BFB0-439A-EC17921D54C9}"/>
              </a:ext>
            </a:extLst>
          </p:cNvPr>
          <p:cNvPicPr>
            <a:picLocks noChangeAspect="1"/>
          </p:cNvPicPr>
          <p:nvPr/>
        </p:nvPicPr>
        <p:blipFill>
          <a:blip r:embed="rId2"/>
          <a:stretch>
            <a:fillRect/>
          </a:stretch>
        </p:blipFill>
        <p:spPr>
          <a:xfrm>
            <a:off x="6476760" y="4920795"/>
            <a:ext cx="1897707" cy="1629873"/>
          </a:xfrm>
          <a:prstGeom prst="rect">
            <a:avLst/>
          </a:prstGeom>
        </p:spPr>
      </p:pic>
    </p:spTree>
    <p:extLst>
      <p:ext uri="{BB962C8B-B14F-4D97-AF65-F5344CB8AC3E}">
        <p14:creationId xmlns:p14="http://schemas.microsoft.com/office/powerpoint/2010/main" val="2829817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86ECD-E708-64EC-84E2-AF9467965B2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4E41A38-17AC-6A92-781C-9D7D0C67F81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Limitations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C43815D-08FC-3DED-9D94-46FD41C27DBD}"/>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CB445902-FD23-23F2-B2E3-1D18550EF0EE}"/>
              </a:ext>
            </a:extLst>
          </p:cNvPr>
          <p:cNvSpPr txBox="1"/>
          <p:nvPr/>
        </p:nvSpPr>
        <p:spPr>
          <a:xfrm>
            <a:off x="164008" y="1109742"/>
            <a:ext cx="8838720" cy="4838571"/>
          </a:xfrm>
          <a:prstGeom prst="rect">
            <a:avLst/>
          </a:prstGeom>
          <a:noFill/>
          <a:ln w="9360">
            <a:noFill/>
          </a:ln>
        </p:spPr>
        <p:txBody>
          <a:bodyPr>
            <a:noAutofit/>
          </a:bodyPr>
          <a:lstStyle/>
          <a:p>
            <a:pPr marL="457200" lvl="0" indent="-317500" algn="just">
              <a:lnSpc>
                <a:spcPct val="150000"/>
              </a:lnSpc>
              <a:buClr>
                <a:srgbClr val="000000"/>
              </a:buClr>
              <a:buSzPts val="1400"/>
              <a:buChar char="●"/>
            </a:pPr>
            <a:r>
              <a:rPr lang="en-IN" sz="2000" dirty="0">
                <a:latin typeface="Times New Roman" panose="02020603050405020304" pitchFamily="18" charset="0"/>
                <a:cs typeface="Times New Roman" panose="02020603050405020304" pitchFamily="18" charset="0"/>
              </a:rPr>
              <a:t>Accuracy may be affected by low lighting, extreme camera angles, or motion blur. </a:t>
            </a:r>
          </a:p>
          <a:p>
            <a:pPr marL="457200" lvl="0" indent="-317500" algn="just">
              <a:lnSpc>
                <a:spcPct val="150000"/>
              </a:lnSpc>
              <a:buClr>
                <a:srgbClr val="000000"/>
              </a:buClr>
              <a:buSzPts val="1400"/>
              <a:buChar char="●"/>
            </a:pPr>
            <a:r>
              <a:rPr lang="en-IN" sz="2000" dirty="0">
                <a:latin typeface="Times New Roman" panose="02020603050405020304" pitchFamily="18" charset="0"/>
                <a:cs typeface="Times New Roman" panose="02020603050405020304" pitchFamily="18" charset="0"/>
              </a:rPr>
              <a:t>The system depends on pre-trained models, which may not represent cultural or   demographic diversity perfectly. </a:t>
            </a:r>
          </a:p>
          <a:p>
            <a:pPr marL="457200" lvl="0" indent="-317500" algn="just">
              <a:lnSpc>
                <a:spcPct val="150000"/>
              </a:lnSpc>
              <a:buClr>
                <a:srgbClr val="000000"/>
              </a:buClr>
              <a:buSzPts val="1400"/>
              <a:buChar char="●"/>
            </a:pPr>
            <a:r>
              <a:rPr lang="en-IN" sz="2000" dirty="0">
                <a:latin typeface="Times New Roman" panose="02020603050405020304" pitchFamily="18" charset="0"/>
                <a:cs typeface="Times New Roman" panose="02020603050405020304" pitchFamily="18" charset="0"/>
              </a:rPr>
              <a:t>Emotional recognition is limited to predefined classes and may not detect mixed or subtle mood states.</a:t>
            </a:r>
          </a:p>
          <a:p>
            <a:pPr marL="457200" lvl="0" indent="-317500" algn="just">
              <a:lnSpc>
                <a:spcPct val="150000"/>
              </a:lnSpc>
              <a:buClr>
                <a:srgbClr val="000000"/>
              </a:buClr>
              <a:buSzPts val="1400"/>
              <a:buChar char="●"/>
            </a:pPr>
            <a:r>
              <a:rPr lang="en-IN" sz="2000" dirty="0">
                <a:latin typeface="Times New Roman" panose="02020603050405020304" pitchFamily="18" charset="0"/>
                <a:cs typeface="Times New Roman" panose="02020603050405020304" pitchFamily="18" charset="0"/>
              </a:rPr>
              <a:t>The system currently does not include long-term storage or cloud-based analytics, although the architecture allows future integration.</a:t>
            </a:r>
          </a:p>
          <a:p>
            <a:pPr marL="457200" lvl="0" indent="-317500" algn="just">
              <a:lnSpc>
                <a:spcPct val="150000"/>
              </a:lnSpc>
              <a:buClr>
                <a:srgbClr val="000000"/>
              </a:buClr>
              <a:buSzPts val="1400"/>
              <a:buChar char="●"/>
            </a:pPr>
            <a:r>
              <a:rPr lang="en-IN" sz="2000" dirty="0">
                <a:latin typeface="Times New Roman" panose="02020603050405020304" pitchFamily="18" charset="0"/>
                <a:cs typeface="Times New Roman" panose="02020603050405020304" pitchFamily="18" charset="0"/>
              </a:rPr>
              <a:t>Scene recognition may sometimes misclassify visually similar environments.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4024935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0FDF-F23F-DA21-537A-5F0D52C09C7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7B64BBD-F9FF-069D-322D-793B683303B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Proposed System</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EFE9B4F-536C-7212-9BDC-D59F3DA9F67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23A0400A-D2D4-6F1A-4FE2-BF458B1BF9AB}"/>
              </a:ext>
            </a:extLst>
          </p:cNvPr>
          <p:cNvSpPr txBox="1"/>
          <p:nvPr/>
        </p:nvSpPr>
        <p:spPr>
          <a:xfrm>
            <a:off x="164008" y="1109742"/>
            <a:ext cx="8838720" cy="4838571"/>
          </a:xfrm>
          <a:prstGeom prst="rect">
            <a:avLst/>
          </a:prstGeom>
          <a:noFill/>
          <a:ln w="9360">
            <a:noFill/>
          </a:ln>
        </p:spPr>
        <p:txBody>
          <a:bodyPr>
            <a:noAutofit/>
          </a:bodyPr>
          <a:lstStyle/>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system overcomes limitations of traditional emotion detection methods by using pre-trained deep learning models instead of training datasets.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works on live webcam input and performs real-time analysis of human emotions and surroundings.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Mood detection and environment recognition are carried out simultaneously for better understanding.</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provides real-time output including emotion, scene type, timestamp, and number of people detected.</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system performs context-aware analysis by combining emotional data with environmental conditions.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supports detection of multiple individuals and summarizes group emotions effectively.</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design is modular, allowing future enhancements like cloud integration, mobile deployment, and audio-based analysis.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56677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002E-F73D-9379-16EA-36D8A37A656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A7B2B60-ED2C-31DD-5CAA-CC0DB1B1397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System Architecture</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635A26A-26A8-007D-EE86-20FCD8D96C0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183D372C-ABD8-95CD-E1B3-38FD065D10FE}"/>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lvl="0">
              <a:buClr>
                <a:srgbClr val="000000"/>
              </a:buClr>
              <a:buSzPts val="1400"/>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Image 4">
            <a:extLst>
              <a:ext uri="{FF2B5EF4-FFF2-40B4-BE49-F238E27FC236}">
                <a16:creationId xmlns:a16="http://schemas.microsoft.com/office/drawing/2014/main" id="{B8192F0C-857C-6ADC-3D5F-464C8928A062}"/>
              </a:ext>
            </a:extLst>
          </p:cNvPr>
          <p:cNvPicPr>
            <a:picLocks/>
          </p:cNvPicPr>
          <p:nvPr/>
        </p:nvPicPr>
        <p:blipFill>
          <a:blip r:embed="rId2" cstate="print"/>
          <a:stretch>
            <a:fillRect/>
          </a:stretch>
        </p:blipFill>
        <p:spPr>
          <a:xfrm>
            <a:off x="1828799" y="909687"/>
            <a:ext cx="5136315" cy="5801704"/>
          </a:xfrm>
          <a:prstGeom prst="rect">
            <a:avLst/>
          </a:prstGeom>
        </p:spPr>
      </p:pic>
    </p:spTree>
    <p:extLst>
      <p:ext uri="{BB962C8B-B14F-4D97-AF65-F5344CB8AC3E}">
        <p14:creationId xmlns:p14="http://schemas.microsoft.com/office/powerpoint/2010/main" val="970986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BDF8B-420A-CE05-C5B7-4BEEA701D94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7E479A0-0348-60EE-1A8A-E7435C10731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Methodology / Working</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2922A41-7B88-9FBE-EB41-7EE1AE89B095}"/>
              </a:ext>
            </a:extLst>
          </p:cNvPr>
          <p:cNvSpPr txBox="1"/>
          <p:nvPr/>
        </p:nvSpPr>
        <p:spPr>
          <a:xfrm>
            <a:off x="7605266" y="6168630"/>
            <a:ext cx="746050" cy="18234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1CFA9095-A4EB-4F23-6C11-DC8FAD8AAFF8}"/>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algn="just">
              <a:lnSpc>
                <a:spcPct val="150000"/>
              </a:lnSpc>
            </a:pPr>
            <a:r>
              <a:rPr lang="en-US" dirty="0">
                <a:latin typeface="Times New Roman" panose="02020603050405020304" pitchFamily="18" charset="0"/>
                <a:cs typeface="Times New Roman" panose="02020603050405020304" pitchFamily="18" charset="0"/>
              </a:rPr>
              <a:t>The system follows a structured step-by-step pipeline:</a:t>
            </a:r>
          </a:p>
          <a:p>
            <a:pPr algn="just">
              <a:lnSpc>
                <a:spcPct val="150000"/>
              </a:lnSpc>
            </a:pPr>
            <a:r>
              <a:rPr lang="en-US" dirty="0">
                <a:latin typeface="Times New Roman" panose="02020603050405020304" pitchFamily="18" charset="0"/>
                <a:cs typeface="Times New Roman" panose="02020603050405020304" pitchFamily="18" charset="0"/>
              </a:rPr>
              <a:t> </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Capturing live video stream using the webcam.</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Processing frames for emotion inference using pretrained models.</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Running environment analysis at intervals for context recognition.</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Detecting and counting individuals present in the frame.</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Annotating the results directly onto the live feed.</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Updating the real-time emotion distribution graph.</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Displaying combined output through an interactive window.</a:t>
            </a:r>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1028" name="Picture 4" descr="Methodology Icon Vector Art, Icons, and Graphics for Free Download">
            <a:extLst>
              <a:ext uri="{FF2B5EF4-FFF2-40B4-BE49-F238E27FC236}">
                <a16:creationId xmlns:a16="http://schemas.microsoft.com/office/drawing/2014/main" id="{CA3E213A-9EE0-EC19-C785-17FA1D441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1416" y="4914820"/>
            <a:ext cx="1666875"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286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7D351-09BA-215D-DD1E-B622B7D9289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33D22A2-356A-137A-E9B1-74435A56D9C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Methodology / Working</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8BA56A1-F573-A5BD-3065-DD1DADE58AF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6621232B-F122-99C7-1C09-6ED7A5696A5C}"/>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Image 3">
            <a:extLst>
              <a:ext uri="{FF2B5EF4-FFF2-40B4-BE49-F238E27FC236}">
                <a16:creationId xmlns:a16="http://schemas.microsoft.com/office/drawing/2014/main" id="{D58E6737-68D2-6095-A018-526911BCBC92}"/>
              </a:ext>
            </a:extLst>
          </p:cNvPr>
          <p:cNvPicPr>
            <a:picLocks/>
          </p:cNvPicPr>
          <p:nvPr/>
        </p:nvPicPr>
        <p:blipFill>
          <a:blip r:embed="rId2" cstate="print"/>
          <a:stretch>
            <a:fillRect/>
          </a:stretch>
        </p:blipFill>
        <p:spPr>
          <a:xfrm>
            <a:off x="1077238" y="1433817"/>
            <a:ext cx="6507345" cy="4182371"/>
          </a:xfrm>
          <a:prstGeom prst="rect">
            <a:avLst/>
          </a:prstGeom>
        </p:spPr>
      </p:pic>
    </p:spTree>
    <p:extLst>
      <p:ext uri="{BB962C8B-B14F-4D97-AF65-F5344CB8AC3E}">
        <p14:creationId xmlns:p14="http://schemas.microsoft.com/office/powerpoint/2010/main" val="1155066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A9174-652C-16E3-2EC4-F9DE73989EA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1B094D7-C2F3-4DD3-BB74-0ABC2C1A84E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Tools &amp; Technologies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92CFD5C-CB12-9ECC-88FE-DA339BEA829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a:extLst>
              <a:ext uri="{FF2B5EF4-FFF2-40B4-BE49-F238E27FC236}">
                <a16:creationId xmlns:a16="http://schemas.microsoft.com/office/drawing/2014/main" id="{0AF630BA-C028-C0E4-C7A5-B06A74AA77D6}"/>
              </a:ext>
            </a:extLst>
          </p:cNvPr>
          <p:cNvSpPr txBox="1"/>
          <p:nvPr/>
        </p:nvSpPr>
        <p:spPr>
          <a:xfrm>
            <a:off x="163423" y="977780"/>
            <a:ext cx="8817154" cy="5378740"/>
          </a:xfrm>
          <a:prstGeom prst="rect">
            <a:avLst/>
          </a:prstGeom>
          <a:noFill/>
          <a:ln w="9360">
            <a:noFill/>
          </a:ln>
        </p:spPr>
        <p:txBody>
          <a:bodyPr>
            <a:noAutofit/>
          </a:bodyPr>
          <a:lstStyle/>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Python</a:t>
            </a:r>
            <a:r>
              <a:rPr lang="en-US" sz="2000" dirty="0">
                <a:latin typeface="Times New Roman" panose="02020603050405020304" pitchFamily="18" charset="0"/>
                <a:cs typeface="Times New Roman" panose="02020603050405020304" pitchFamily="18" charset="0"/>
              </a:rPr>
              <a:t> – Used as the main programming language for developing the entire system.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OpenCV</a:t>
            </a:r>
            <a:r>
              <a:rPr lang="en-US" sz="2000" dirty="0">
                <a:latin typeface="Times New Roman" panose="02020603050405020304" pitchFamily="18" charset="0"/>
                <a:cs typeface="Times New Roman" panose="02020603050405020304" pitchFamily="18" charset="0"/>
              </a:rPr>
              <a:t> – Helps in capturing live video, detecting faces, and displaying results with proper visual output. </a:t>
            </a:r>
          </a:p>
          <a:p>
            <a:pPr marL="285750" lvl="0" indent="-285750" algn="just">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DeepFace</a:t>
            </a:r>
            <a:r>
              <a:rPr lang="en-US" sz="2000" dirty="0">
                <a:latin typeface="Times New Roman" panose="02020603050405020304" pitchFamily="18" charset="0"/>
                <a:cs typeface="Times New Roman" panose="02020603050405020304" pitchFamily="18" charset="0"/>
              </a:rPr>
              <a:t> – Used for detecting facial attributes such as emotion, age, gender, and race.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ResNet18 (Places365 Model) </a:t>
            </a:r>
            <a:r>
              <a:rPr lang="en-US" sz="2000" dirty="0">
                <a:latin typeface="Times New Roman" panose="02020603050405020304" pitchFamily="18" charset="0"/>
                <a:cs typeface="Times New Roman" panose="02020603050405020304" pitchFamily="18" charset="0"/>
              </a:rPr>
              <a:t>– A pre-trained model used to recognize and classify the surrounding environment.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MTCNN</a:t>
            </a:r>
            <a:r>
              <a:rPr lang="en-US" sz="2000" dirty="0">
                <a:latin typeface="Times New Roman" panose="02020603050405020304" pitchFamily="18" charset="0"/>
                <a:cs typeface="Times New Roman" panose="02020603050405020304" pitchFamily="18" charset="0"/>
              </a:rPr>
              <a:t> – Used for accurate face detection and identifying facial landmarks.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Deep Learning &amp; CNNs</a:t>
            </a:r>
            <a:r>
              <a:rPr lang="en-US" sz="2000" dirty="0">
                <a:latin typeface="Times New Roman" panose="02020603050405020304" pitchFamily="18" charset="0"/>
                <a:cs typeface="Times New Roman" panose="02020603050405020304" pitchFamily="18" charset="0"/>
              </a:rPr>
              <a:t> – Core techniques used for processing and analyzing image data.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Computer Vision</a:t>
            </a:r>
            <a:r>
              <a:rPr lang="en-US" sz="2000" dirty="0">
                <a:latin typeface="Times New Roman" panose="02020603050405020304" pitchFamily="18" charset="0"/>
                <a:cs typeface="Times New Roman" panose="02020603050405020304" pitchFamily="18" charset="0"/>
              </a:rPr>
              <a:t> – Enables the system to understand and interpret visual input from the webcam. </a:t>
            </a: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Multithreading</a:t>
            </a:r>
            <a:r>
              <a:rPr lang="en-US" sz="2000" dirty="0">
                <a:latin typeface="Times New Roman" panose="02020603050405020304" pitchFamily="18" charset="0"/>
                <a:cs typeface="Times New Roman" panose="02020603050405020304" pitchFamily="18" charset="0"/>
              </a:rPr>
              <a:t> – Ensures smooth execution by running multiple tasks simultaneously without slowing down the system.</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058" name="Picture 10" descr="Tools Icon PNG Images, Vectors Free Download - Pngtree">
            <a:extLst>
              <a:ext uri="{FF2B5EF4-FFF2-40B4-BE49-F238E27FC236}">
                <a16:creationId xmlns:a16="http://schemas.microsoft.com/office/drawing/2014/main" id="{33278F32-2F8D-443A-4ECA-7493A695FA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080" y="5336003"/>
            <a:ext cx="1385197" cy="1290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847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ABCE-3839-F854-6EA3-417ED62C035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634A460-DCE4-ABE9-8AE3-58B2F04D93D3}"/>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Results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F32676E-F987-E560-F965-86CD85D68DB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a:extLst>
              <a:ext uri="{FF2B5EF4-FFF2-40B4-BE49-F238E27FC236}">
                <a16:creationId xmlns:a16="http://schemas.microsoft.com/office/drawing/2014/main" id="{C5B84BBC-CAEA-A744-0085-D1FBBD25677D}"/>
              </a:ext>
            </a:extLst>
          </p:cNvPr>
          <p:cNvSpPr txBox="1"/>
          <p:nvPr/>
        </p:nvSpPr>
        <p:spPr>
          <a:xfrm>
            <a:off x="164008" y="1109742"/>
            <a:ext cx="8838720" cy="4865173"/>
          </a:xfrm>
          <a:prstGeom prst="rect">
            <a:avLst/>
          </a:prstGeom>
          <a:noFill/>
          <a:ln w="9360">
            <a:noFill/>
          </a:ln>
        </p:spPr>
        <p:txBody>
          <a:bodyPr>
            <a:no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r>
              <a:rPr lang="en-US" sz="2000" dirty="0">
                <a:latin typeface="Times New Roman" panose="02020603050405020304" pitchFamily="18" charset="0"/>
                <a:cs typeface="Times New Roman" panose="02020603050405020304" pitchFamily="18" charset="0"/>
              </a:rPr>
              <a:t>A graphical representation of emotional trends was displayed alongside the live video feed to provide a visual summary of emotional patterns over time.</a:t>
            </a:r>
          </a:p>
        </p:txBody>
      </p:sp>
      <p:pic>
        <p:nvPicPr>
          <p:cNvPr id="2" name="Image 5">
            <a:extLst>
              <a:ext uri="{FF2B5EF4-FFF2-40B4-BE49-F238E27FC236}">
                <a16:creationId xmlns:a16="http://schemas.microsoft.com/office/drawing/2014/main" id="{1A2F473D-219D-99E9-B954-AB2C9448D31E}"/>
              </a:ext>
            </a:extLst>
          </p:cNvPr>
          <p:cNvPicPr>
            <a:picLocks/>
          </p:cNvPicPr>
          <p:nvPr/>
        </p:nvPicPr>
        <p:blipFill>
          <a:blip r:embed="rId2" cstate="print"/>
          <a:stretch>
            <a:fillRect/>
          </a:stretch>
        </p:blipFill>
        <p:spPr>
          <a:xfrm>
            <a:off x="1803748" y="1109742"/>
            <a:ext cx="5816012" cy="3211737"/>
          </a:xfrm>
          <a:prstGeom prst="rect">
            <a:avLst/>
          </a:prstGeom>
        </p:spPr>
      </p:pic>
    </p:spTree>
    <p:extLst>
      <p:ext uri="{BB962C8B-B14F-4D97-AF65-F5344CB8AC3E}">
        <p14:creationId xmlns:p14="http://schemas.microsoft.com/office/powerpoint/2010/main" val="353506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33E0E-DB52-040F-9733-1FDF0462554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59E4E14-B332-5471-6783-226D57BD619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Future Scope</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F2BBAF9-6A57-B60D-753A-67DE2FE49AE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
        <p:nvSpPr>
          <p:cNvPr id="5" name="TextShape 2">
            <a:extLst>
              <a:ext uri="{FF2B5EF4-FFF2-40B4-BE49-F238E27FC236}">
                <a16:creationId xmlns:a16="http://schemas.microsoft.com/office/drawing/2014/main" id="{D0856733-34D0-78BB-14A9-206860057376}"/>
              </a:ext>
            </a:extLst>
          </p:cNvPr>
          <p:cNvSpPr txBox="1"/>
          <p:nvPr/>
        </p:nvSpPr>
        <p:spPr>
          <a:xfrm>
            <a:off x="164008" y="1109742"/>
            <a:ext cx="8829680" cy="5611458"/>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Emotion detection can be enhanced to identify </a:t>
            </a:r>
            <a:r>
              <a:rPr lang="en-US" sz="2000" b="1" dirty="0">
                <a:latin typeface="Times New Roman" panose="02020603050405020304" pitchFamily="18" charset="0"/>
                <a:cs typeface="Times New Roman" panose="02020603050405020304" pitchFamily="18" charset="0"/>
              </a:rPr>
              <a:t>complex and subtle emotions</a:t>
            </a:r>
            <a:r>
              <a:rPr lang="en-US" sz="2000" dirty="0">
                <a:latin typeface="Times New Roman" panose="02020603050405020304" pitchFamily="18" charset="0"/>
                <a:cs typeface="Times New Roman" panose="02020603050405020304" pitchFamily="18" charset="0"/>
              </a:rPr>
              <a:t> beyond basic categories.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Integration of </a:t>
            </a:r>
            <a:r>
              <a:rPr lang="en-US" sz="2000" b="1" dirty="0">
                <a:latin typeface="Times New Roman" panose="02020603050405020304" pitchFamily="18" charset="0"/>
                <a:cs typeface="Times New Roman" panose="02020603050405020304" pitchFamily="18" charset="0"/>
              </a:rPr>
              <a:t>voice-based sentiment analysis</a:t>
            </a:r>
            <a:r>
              <a:rPr lang="en-US" sz="2000" dirty="0">
                <a:latin typeface="Times New Roman" panose="02020603050405020304" pitchFamily="18" charset="0"/>
                <a:cs typeface="Times New Roman" panose="02020603050405020304" pitchFamily="18" charset="0"/>
              </a:rPr>
              <a:t> can improve overall accuracy of emotion recognition.</a:t>
            </a:r>
          </a:p>
          <a:p>
            <a:pPr marL="457200" lvl="0" indent="-317500" algn="just">
              <a:buClr>
                <a:srgbClr val="000000"/>
              </a:buClr>
              <a:buSzPts val="1400"/>
              <a:buChar char="●"/>
            </a:pPr>
            <a:r>
              <a:rPr lang="en-US" sz="2000" b="1" dirty="0">
                <a:latin typeface="Times New Roman" panose="02020603050405020304" pitchFamily="18" charset="0"/>
                <a:cs typeface="Times New Roman" panose="02020603050405020304" pitchFamily="18" charset="0"/>
              </a:rPr>
              <a:t>Cloud storage and processing</a:t>
            </a:r>
            <a:r>
              <a:rPr lang="en-US" sz="2000" dirty="0">
                <a:latin typeface="Times New Roman" panose="02020603050405020304" pitchFamily="18" charset="0"/>
                <a:cs typeface="Times New Roman" panose="02020603050405020304" pitchFamily="18" charset="0"/>
              </a:rPr>
              <a:t> can be added for long-term data tracking and remote access.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system can be extended to </a:t>
            </a:r>
            <a:r>
              <a:rPr lang="en-US" sz="2000" b="1" dirty="0">
                <a:latin typeface="Times New Roman" panose="02020603050405020304" pitchFamily="18" charset="0"/>
                <a:cs typeface="Times New Roman" panose="02020603050405020304" pitchFamily="18" charset="0"/>
              </a:rPr>
              <a:t>mobile and IoT devices</a:t>
            </a:r>
            <a:r>
              <a:rPr lang="en-US" sz="2000" dirty="0">
                <a:latin typeface="Times New Roman" panose="02020603050405020304" pitchFamily="18" charset="0"/>
                <a:cs typeface="Times New Roman" panose="02020603050405020304" pitchFamily="18" charset="0"/>
              </a:rPr>
              <a:t> for wider real-world applications.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Advanced features like </a:t>
            </a:r>
            <a:r>
              <a:rPr lang="en-US" sz="2000" b="1" dirty="0">
                <a:latin typeface="Times New Roman" panose="02020603050405020304" pitchFamily="18" charset="0"/>
                <a:cs typeface="Times New Roman" panose="02020603050405020304" pitchFamily="18" charset="0"/>
              </a:rPr>
              <a:t>gesture, posture, and gaze detection</a:t>
            </a:r>
            <a:r>
              <a:rPr lang="en-US" sz="2000" dirty="0">
                <a:latin typeface="Times New Roman" panose="02020603050405020304" pitchFamily="18" charset="0"/>
                <a:cs typeface="Times New Roman" panose="02020603050405020304" pitchFamily="18" charset="0"/>
              </a:rPr>
              <a:t> can improve behavioral analysis.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Models can be improved using </a:t>
            </a:r>
            <a:r>
              <a:rPr lang="en-US" sz="2000" b="1" dirty="0">
                <a:latin typeface="Times New Roman" panose="02020603050405020304" pitchFamily="18" charset="0"/>
                <a:cs typeface="Times New Roman" panose="02020603050405020304" pitchFamily="18" charset="0"/>
              </a:rPr>
              <a:t>personalized learning and cross-cultural adaptation</a:t>
            </a:r>
            <a:r>
              <a:rPr lang="en-US" sz="2000" dirty="0">
                <a:latin typeface="Times New Roman" panose="02020603050405020304" pitchFamily="18" charset="0"/>
                <a:cs typeface="Times New Roman" panose="02020603050405020304" pitchFamily="18" charset="0"/>
              </a:rPr>
              <a:t> for better accuracy.</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6E486961-C8FD-88EB-74FD-11C29E131B03}"/>
              </a:ext>
            </a:extLst>
          </p:cNvPr>
          <p:cNvPicPr>
            <a:picLocks noChangeAspect="1"/>
          </p:cNvPicPr>
          <p:nvPr/>
        </p:nvPicPr>
        <p:blipFill>
          <a:blip r:embed="rId2"/>
          <a:srcRect l="10782" t="11578" r="15952" b="10436"/>
          <a:stretch>
            <a:fillRect/>
          </a:stretch>
        </p:blipFill>
        <p:spPr>
          <a:xfrm>
            <a:off x="6553080" y="4955131"/>
            <a:ext cx="1864410" cy="1586253"/>
          </a:xfrm>
          <a:prstGeom prst="rect">
            <a:avLst/>
          </a:prstGeom>
        </p:spPr>
      </p:pic>
    </p:spTree>
    <p:extLst>
      <p:ext uri="{BB962C8B-B14F-4D97-AF65-F5344CB8AC3E}">
        <p14:creationId xmlns:p14="http://schemas.microsoft.com/office/powerpoint/2010/main" val="702616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65F0D-A7E1-D5C2-E887-80C8B74D4BC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85DFFF4-DC4D-9C5E-854E-C8AA58122C4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Conclusion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D4BDE99-CE84-51A0-4975-8C5F89E9282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5" name="TextShape 2">
            <a:extLst>
              <a:ext uri="{FF2B5EF4-FFF2-40B4-BE49-F238E27FC236}">
                <a16:creationId xmlns:a16="http://schemas.microsoft.com/office/drawing/2014/main" id="{07B61AF6-9CE2-DCCD-DBC3-A3FCEAAC1223}"/>
              </a:ext>
            </a:extLst>
          </p:cNvPr>
          <p:cNvSpPr txBox="1"/>
          <p:nvPr/>
        </p:nvSpPr>
        <p:spPr>
          <a:xfrm>
            <a:off x="164008" y="1109742"/>
            <a:ext cx="8804628" cy="5611458"/>
          </a:xfrm>
          <a:prstGeom prst="rect">
            <a:avLst/>
          </a:prstGeom>
          <a:noFill/>
          <a:ln w="9360">
            <a:noFill/>
          </a:ln>
        </p:spPr>
        <p:txBody>
          <a:bodyPr>
            <a:noAutofit/>
          </a:bodyPr>
          <a:lstStyle/>
          <a:p>
            <a:pPr algn="just">
              <a:lnSpc>
                <a:spcPct val="150000"/>
              </a:lnSpc>
              <a:spcBef>
                <a:spcPts val="400"/>
              </a:spcBef>
            </a:pPr>
            <a:r>
              <a:rPr lang="en-US" sz="2000" dirty="0">
                <a:latin typeface="Times New Roman" panose="02020603050405020304" pitchFamily="18" charset="0"/>
                <a:cs typeface="Times New Roman" panose="02020603050405020304" pitchFamily="18" charset="0"/>
              </a:rPr>
              <a:t>The development of this system shows how artificial intelligence can be effectively integrated into real-time applications to understand human emotions along with their surrounding environment. Unlike traditional methods that depend on large datasets and offline processing, this system uses pre-trained models and live webcam input, making it more efficient, scalable, and easier to deploy in real-world scenarios. It is capable of detecting emotions, identifying multiple individuals, and classifying the environment simultaneously, while also presenting the results through visual overlays and trend graphs for better understanding. By combining mood detection with context awareness, the system provides more accurate and meaningful behavioral insights. Overall, the project successfully achieves its objectives and offers a practical solution that can be applied in areas such as education, security, behavioral analysis, and mental health monitoring.</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299866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dirty="0">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36286</TotalTime>
  <Words>998</Words>
  <Application>Microsoft Office PowerPoint</Application>
  <PresentationFormat>On-screen Show (4:3)</PresentationFormat>
  <Paragraphs>206</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Rupali Wadhwa</cp:lastModifiedBy>
  <cp:revision>2308</cp:revision>
  <dcterms:created xsi:type="dcterms:W3CDTF">2010-04-09T07:36:15Z</dcterms:created>
  <dcterms:modified xsi:type="dcterms:W3CDTF">2026-05-17T13:49:21Z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